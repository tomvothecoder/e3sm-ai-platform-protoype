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4ca57d32e564fec" /><Relationship Type="http://schemas.openxmlformats.org/officeDocument/2006/relationships/extended-properties" Target="/docProps/app.xml" Id="R5f67cd3c2f594528" /><Relationship Type="http://schemas.openxmlformats.org/officeDocument/2006/relationships/officeDocument" Target="/ppt/presentation.xml" Id="R68a10e3fc681430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0c892410e4a4d63"/>
  </p:sldMasterIdLst>
  <p:notesMasterIdLst>
    <p:notesMasterId xmlns:r="http://schemas.openxmlformats.org/officeDocument/2006/relationships" r:id="R23c0ae4b3ea143cf"/>
  </p:notesMasterIdLst>
  <p:sldIdLst>
    <p:sldId xmlns:r="http://schemas.openxmlformats.org/officeDocument/2006/relationships" id="256" r:id="R5c5bd7267a1449fe"/>
    <p:sldId xmlns:r="http://schemas.openxmlformats.org/officeDocument/2006/relationships" id="257" r:id="R27d06141d9de4d5b"/>
    <p:sldId xmlns:r="http://schemas.openxmlformats.org/officeDocument/2006/relationships" id="258" r:id="R5c5bedf26d784d1f"/>
    <p:sldId xmlns:r="http://schemas.openxmlformats.org/officeDocument/2006/relationships" id="259" r:id="Re846842467e7472f"/>
    <p:sldId xmlns:r="http://schemas.openxmlformats.org/officeDocument/2006/relationships" id="260" r:id="Rcda4c9f0a1a5464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7a392a232fa4c64" /><Relationship Type="http://schemas.openxmlformats.org/officeDocument/2006/relationships/slideMaster" Target="/ppt/slideMasters/slideMaster1.xml" Id="R90c892410e4a4d63" /><Relationship Type="http://schemas.openxmlformats.org/officeDocument/2006/relationships/notesMaster" Target="/ppt/notesMasters/notesMaster1.xml" Id="R23c0ae4b3ea143cf" /><Relationship Type="http://schemas.openxmlformats.org/officeDocument/2006/relationships/presProps" Target="/ppt/presProps.xml" Id="R47ee029b26cc4a47" /><Relationship Type="http://schemas.openxmlformats.org/officeDocument/2006/relationships/tableStyles" Target="/ppt/tableStyles.xml" Id="R43eb6c4ce216480c" /><Relationship Type="http://schemas.openxmlformats.org/officeDocument/2006/relationships/slide" Target="/ppt/slides/slide1.xml" Id="R5c5bd7267a1449fe" /><Relationship Type="http://schemas.openxmlformats.org/officeDocument/2006/relationships/slide" Target="/ppt/slides/slide2.xml" Id="R27d06141d9de4d5b" /><Relationship Type="http://schemas.openxmlformats.org/officeDocument/2006/relationships/slide" Target="/ppt/slides/slide3.xml" Id="R5c5bedf26d784d1f" /><Relationship Type="http://schemas.openxmlformats.org/officeDocument/2006/relationships/slide" Target="/ppt/slides/slide4.xml" Id="Re846842467e7472f" /><Relationship Type="http://schemas.openxmlformats.org/officeDocument/2006/relationships/slide" Target="/ppt/slides/slide5.xml" Id="Rcda4c9f0a1a5464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e39bb4ddd0e4b8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a74fd8934ad4294" /><Relationship Type="http://schemas.openxmlformats.org/officeDocument/2006/relationships/notesMaster" Target="/ppt/notesMasters/notesMaster1.xml" Id="R8f6055765a72463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7fe7213f6bb4b5f" /><Relationship Type="http://schemas.openxmlformats.org/officeDocument/2006/relationships/notesMaster" Target="/ppt/notesMasters/notesMaster1.xml" Id="Rd233c6415bd34fd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f90284a28604ba9" /><Relationship Type="http://schemas.openxmlformats.org/officeDocument/2006/relationships/notesMaster" Target="/ppt/notesMasters/notesMaster1.xml" Id="Rd1072d59b31344f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ded34ec4aa94f42" /><Relationship Type="http://schemas.openxmlformats.org/officeDocument/2006/relationships/notesMaster" Target="/ppt/notesMasters/notesMaster1.xml" Id="Rd61bc24107d446f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d4dec2d5d4f4d62" /><Relationship Type="http://schemas.openxmlformats.org/officeDocument/2006/relationships/notesMaster" Target="/ppt/notesMasters/notesMaster1.xml" Id="Re162b46dad6f46a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fb8af43207464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3c05d16ab314557" /><Relationship Type="http://schemas.openxmlformats.org/officeDocument/2006/relationships/slideLayout" Target="/ppt/slideLayouts/slideLayout1.xml" Id="Rbca1b3ba445f4bc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ca1b3ba445f4bc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963627f04243ac" /><Relationship Type="http://schemas.openxmlformats.org/officeDocument/2006/relationships/notesSlide" Target="/ppt/notesSlides/notesSlide1.xml" Id="R814abb0c305c45e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7395102ec14f4d" /><Relationship Type="http://schemas.openxmlformats.org/officeDocument/2006/relationships/notesSlide" Target="/ppt/notesSlides/notesSlide2.xml" Id="R722196d6eebf46f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1d3a97d4124884" /><Relationship Type="http://schemas.openxmlformats.org/officeDocument/2006/relationships/notesSlide" Target="/ppt/notesSlides/notesSlide3.xml" Id="R8a9c428c72c74e6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ca38dc531d4245" /><Relationship Type="http://schemas.openxmlformats.org/officeDocument/2006/relationships/notesSlide" Target="/ppt/notesSlides/notesSlide4.xml" Id="R89751fcac71b4be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682e9cb04e4707" /><Relationship Type="http://schemas.openxmlformats.org/officeDocument/2006/relationships/notesSlide" Target="/ppt/notesSlides/notesSlide5.xml" Id="R844997374e2744f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A4B60FEF-AD40-413C-8FE9-B6CC46803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3429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6B35"/>
                </a:solidFill>
              </a:defRPr>
            </a:pPr>
            <a:r>
              <a:t>PROOF OF CONCEPT</a:t>
            </a:r>
          </a:p>
        </p:txBody>
      </p:sp>
      <p:sp>
        <p:nvSpPr>
          <p:cNvPr id="2" name="cover-scope">
            <a:extLst xmlns:a="http://schemas.openxmlformats.org/drawingml/2006/main">
              <a:ext uri="{FF2B5EF4-FFF2-40B4-BE49-F238E27FC236}">
                <a16:creationId xmlns:a16="http://schemas.microsoft.com/office/drawing/2014/main" id="{163A56E7-D195-4ADA-B0A0-9EEA013F2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00050"/>
            <a:ext cx="41719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>
                <a:solidFill>
                  <a:srgbClr val="555555"/>
                </a:solidFill>
              </a:defRPr>
            </a:pPr>
            <a:r>
              <a:t>E3SM  /  CIME  /  SIMBOARD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BF6FD726-6C87-456E-8BEB-74D363B7E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57550"/>
            <a:ext cx="1066800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>
              <a:defRPr sz="4800" b="0">
                <a:solidFill>
                  <a:srgbClr val="000000"/>
                </a:solidFill>
              </a:defRPr>
            </a:pPr>
            <a:r>
              <a:t>Grounded answers from curated knowledge sources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58F8EA7E-5688-4F71-8A36-91FB88365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619750"/>
            <a:ext cx="72390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55555"/>
                </a:solidFill>
              </a:defRPr>
            </a:pPr>
            <a:r>
              <a:t>A local retrieval + LivAI technical spike</a:t>
            </a:r>
          </a:p>
        </p:txBody>
      </p:sp>
    </p:spTree>
    <p:extLst>
      <p:ext uri="{BB962C8B-B14F-4D97-AF65-F5344CB8AC3E}">
        <p14:creationId xmlns:p14="http://schemas.microsoft.com/office/powerpoint/2010/main" val="204070371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rchitecture-title">
            <a:extLst xmlns:a="http://schemas.openxmlformats.org/drawingml/2006/main">
              <a:ext uri="{FF2B5EF4-FFF2-40B4-BE49-F238E27FC236}">
                <a16:creationId xmlns:a16="http://schemas.microsoft.com/office/drawing/2014/main" id="{1EB276A6-C31F-4296-AAFD-802766371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08585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3150" b="0">
                <a:solidFill>
                  <a:srgbClr val="000000"/>
                </a:solidFill>
              </a:defRPr>
            </a:pPr>
            <a:r>
              <a:t>Pinned knowledge sources ground every answer</a:t>
            </a:r>
          </a:p>
        </p:txBody>
      </p:sp>
      <p:sp>
        <p:nvSpPr>
          <p:cNvPr id="2" name="architecture-caption">
            <a:extLst xmlns:a="http://schemas.openxmlformats.org/drawingml/2006/main">
              <a:ext uri="{FF2B5EF4-FFF2-40B4-BE49-F238E27FC236}">
                <a16:creationId xmlns:a16="http://schemas.microsoft.com/office/drawing/2014/main" id="{CEEFEF4E-4D75-4587-A48F-1C262B05C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71550"/>
            <a:ext cx="10096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55555"/>
                </a:solidFill>
              </a:defRPr>
            </a:pPr>
            <a:r>
              <a:t>Three boundaries keep sources, retrieval, and generation explicit.</a:t>
            </a:r>
          </a:p>
        </p:txBody>
      </p:sp>
      <p:sp>
        <p:nvSpPr>
          <p:cNvPr id="3" name="sources-panel">
            <a:extLst xmlns:a="http://schemas.openxmlformats.org/drawingml/2006/main">
              <a:ext uri="{FF2B5EF4-FFF2-40B4-BE49-F238E27FC236}">
                <a16:creationId xmlns:a16="http://schemas.microsoft.com/office/drawing/2014/main" id="{7AE91607-8B73-4911-AAEC-872CE3903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32766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etrieval-panel">
            <a:extLst xmlns:a="http://schemas.openxmlformats.org/drawingml/2006/main">
              <a:ext uri="{FF2B5EF4-FFF2-40B4-BE49-F238E27FC236}">
                <a16:creationId xmlns:a16="http://schemas.microsoft.com/office/drawing/2014/main" id="{94395ED1-C681-478D-BEE8-2DE03599E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676400"/>
            <a:ext cx="32766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generation-panel">
            <a:extLst xmlns:a="http://schemas.openxmlformats.org/drawingml/2006/main">
              <a:ext uri="{FF2B5EF4-FFF2-40B4-BE49-F238E27FC236}">
                <a16:creationId xmlns:a16="http://schemas.microsoft.com/office/drawing/2014/main" id="{4EBD4B6E-797A-4FB7-9BC9-B9C66A77E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676400"/>
            <a:ext cx="32766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28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676650" y="3533775"/>
            <a:ext cx="781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29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7734300" y="3533775"/>
            <a:ext cx="781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prstDash val="solid"/>
            <a:tailEnd type="triangle" w="sm" len="sm"/>
          </a:ln>
        </p:spPr>
      </p:cxnSp>
      <p:sp>
        <p:nvSpPr>
          <p:cNvPr id="8" name="sources-number">
            <a:extLst xmlns:a="http://schemas.openxmlformats.org/drawingml/2006/main">
              <a:ext uri="{FF2B5EF4-FFF2-40B4-BE49-F238E27FC236}">
                <a16:creationId xmlns:a16="http://schemas.microsoft.com/office/drawing/2014/main" id="{E4EBF138-AB59-4CF5-B213-B46010633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609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6B35"/>
                </a:solidFill>
              </a:defRPr>
            </a:pPr>
            <a:r>
              <a:rPr sz="2550" b="1">
                <a:solidFill>
                  <a:srgbClr val="FF6B35"/>
                </a:solidFill>
              </a:rPr>
              <a:t>01</a:t>
            </a:r>
          </a:p>
        </p:txBody>
      </p:sp>
      <p:sp>
        <p:nvSpPr>
          <p:cNvPr id="9" name="sources-title">
            <a:extLst xmlns:a="http://schemas.openxmlformats.org/drawingml/2006/main">
              <a:ext uri="{FF2B5EF4-FFF2-40B4-BE49-F238E27FC236}">
                <a16:creationId xmlns:a16="http://schemas.microsoft.com/office/drawing/2014/main" id="{646012FA-CA80-4826-BF6F-E2922F28D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Knowledge sources</a:t>
            </a:r>
          </a:p>
        </p:txBody>
      </p:sp>
      <p:sp>
        <p:nvSpPr>
          <p:cNvPr id="10" name="sources-body">
            <a:extLst xmlns:a="http://schemas.openxmlformats.org/drawingml/2006/main">
              <a:ext uri="{FF2B5EF4-FFF2-40B4-BE49-F238E27FC236}">
                <a16:creationId xmlns:a16="http://schemas.microsoft.com/office/drawing/2014/main" id="{4175C248-B628-4839-8B3B-181CCE39C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24200"/>
            <a:ext cx="2476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22222"/>
                </a:solidFill>
              </a:defRPr>
            </a:pPr>
            <a:r>
              <a:rPr sz="1500">
                <a:solidFill>
                  <a:srgbClr val="222222"/>
                </a:solidFill>
              </a:rPr>
              <a:t>SHA-pinned docs</a:t>
            </a:r>
          </a:p>
          <a:p xmlns:a="http://schemas.openxmlformats.org/drawingml/2006/main">
            <a:pPr>
              <a:defRPr sz="1500">
                <a:solidFill>
                  <a:srgbClr val="222222"/>
                </a:solidFill>
              </a:defRPr>
            </a:pPr>
            <a:r>
              <a:rPr sz="1500">
                <a:solidFill>
                  <a:srgbClr val="222222"/>
                </a:solidFill>
              </a:rPr>
              <a:t>Manifest metadata</a:t>
            </a:r>
          </a:p>
          <a:p xmlns:a="http://schemas.openxmlformats.org/drawingml/2006/main">
            <a:pPr>
              <a:defRPr sz="1500">
                <a:solidFill>
                  <a:srgbClr val="222222"/>
                </a:solidFill>
              </a:defRPr>
            </a:pPr>
            <a:r>
              <a:rPr sz="1500">
                <a:solidFill>
                  <a:srgbClr val="222222"/>
                </a:solidFill>
              </a:rPr>
              <a:t>Source URLs + versions</a:t>
            </a:r>
          </a:p>
        </p:txBody>
      </p:sp>
      <p:sp>
        <p:nvSpPr>
          <p:cNvPr id="11" name="sources-note">
            <a:extLst xmlns:a="http://schemas.openxmlformats.org/drawingml/2006/main">
              <a:ext uri="{FF2B5EF4-FFF2-40B4-BE49-F238E27FC236}">
                <a16:creationId xmlns:a16="http://schemas.microsoft.com/office/drawing/2014/main" id="{5EBAE0AC-0F1B-4188-8D61-9F9744C72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Reproducible input</a:t>
            </a:r>
          </a:p>
        </p:txBody>
      </p:sp>
      <p:sp>
        <p:nvSpPr>
          <p:cNvPr id="12" name="retrieval-number">
            <a:extLst xmlns:a="http://schemas.openxmlformats.org/drawingml/2006/main">
              <a:ext uri="{FF2B5EF4-FFF2-40B4-BE49-F238E27FC236}">
                <a16:creationId xmlns:a16="http://schemas.microsoft.com/office/drawing/2014/main" id="{FF41ADEF-AF87-47E4-9D3F-CA735CFE0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924050"/>
            <a:ext cx="609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6B35"/>
                </a:solidFill>
              </a:defRPr>
            </a:pPr>
            <a:r>
              <a:rPr sz="2550" b="1">
                <a:solidFill>
                  <a:srgbClr val="FF6B35"/>
                </a:solidFill>
              </a:rPr>
              <a:t>02</a:t>
            </a:r>
          </a:p>
        </p:txBody>
      </p:sp>
      <p:sp>
        <p:nvSpPr>
          <p:cNvPr id="13" name="retrieval-title">
            <a:extLst xmlns:a="http://schemas.openxmlformats.org/drawingml/2006/main">
              <a:ext uri="{FF2B5EF4-FFF2-40B4-BE49-F238E27FC236}">
                <a16:creationId xmlns:a16="http://schemas.microsoft.com/office/drawing/2014/main" id="{45AA1BD8-1D58-471F-BAE1-0D29C939A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552700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Local retrieval</a:t>
            </a:r>
          </a:p>
        </p:txBody>
      </p:sp>
      <p:sp>
        <p:nvSpPr>
          <p:cNvPr id="14" name="retrieval-body">
            <a:extLst xmlns:a="http://schemas.openxmlformats.org/drawingml/2006/main">
              <a:ext uri="{FF2B5EF4-FFF2-40B4-BE49-F238E27FC236}">
                <a16:creationId xmlns:a16="http://schemas.microsoft.com/office/drawing/2014/main" id="{CAEF31F2-9A94-43D1-9E4A-870963584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124200"/>
            <a:ext cx="2476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22222"/>
                </a:solidFill>
              </a:defRPr>
            </a:pPr>
            <a:r>
              <a:rPr sz="1500">
                <a:solidFill>
                  <a:srgbClr val="222222"/>
                </a:solidFill>
              </a:rPr>
              <a:t>CPU embeddings</a:t>
            </a:r>
          </a:p>
          <a:p xmlns:a="http://schemas.openxmlformats.org/drawingml/2006/main">
            <a:pPr>
              <a:defRPr sz="1500">
                <a:solidFill>
                  <a:srgbClr val="222222"/>
                </a:solidFill>
              </a:defRPr>
            </a:pPr>
            <a:r>
              <a:rPr sz="1500">
                <a:solidFill>
                  <a:srgbClr val="222222"/>
                </a:solidFill>
              </a:rPr>
              <a:t>Persistent vector index</a:t>
            </a:r>
          </a:p>
          <a:p xmlns:a="http://schemas.openxmlformats.org/drawingml/2006/main">
            <a:pPr>
              <a:defRPr sz="1500">
                <a:solidFill>
                  <a:srgbClr val="222222"/>
                </a:solidFill>
              </a:defRPr>
            </a:pPr>
            <a:r>
              <a:rPr sz="1500">
                <a:solidFill>
                  <a:srgbClr val="222222"/>
                </a:solidFill>
              </a:rPr>
              <a:t>Document-search tool</a:t>
            </a:r>
          </a:p>
        </p:txBody>
      </p:sp>
      <p:sp>
        <p:nvSpPr>
          <p:cNvPr id="15" name="retrieval-note">
            <a:extLst xmlns:a="http://schemas.openxmlformats.org/drawingml/2006/main">
              <a:ext uri="{FF2B5EF4-FFF2-40B4-BE49-F238E27FC236}">
                <a16:creationId xmlns:a16="http://schemas.microsoft.com/office/drawing/2014/main" id="{38069E4F-9DB9-4F9C-BD61-26105F189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8577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Selected context only</a:t>
            </a:r>
          </a:p>
        </p:txBody>
      </p:sp>
      <p:sp>
        <p:nvSpPr>
          <p:cNvPr id="16" name="generation-number">
            <a:extLst xmlns:a="http://schemas.openxmlformats.org/drawingml/2006/main">
              <a:ext uri="{FF2B5EF4-FFF2-40B4-BE49-F238E27FC236}">
                <a16:creationId xmlns:a16="http://schemas.microsoft.com/office/drawing/2014/main" id="{53ECF23E-F52D-4E8B-9E6C-DE7A633DA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924050"/>
            <a:ext cx="609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6B35"/>
                </a:solidFill>
              </a:defRPr>
            </a:pPr>
            <a:r>
              <a:rPr sz="2550" b="1">
                <a:solidFill>
                  <a:srgbClr val="FF6B35"/>
                </a:solidFill>
              </a:rPr>
              <a:t>03</a:t>
            </a:r>
          </a:p>
        </p:txBody>
      </p:sp>
      <p:sp>
        <p:nvSpPr>
          <p:cNvPr id="17" name="generation-title">
            <a:extLst xmlns:a="http://schemas.openxmlformats.org/drawingml/2006/main">
              <a:ext uri="{FF2B5EF4-FFF2-40B4-BE49-F238E27FC236}">
                <a16:creationId xmlns:a16="http://schemas.microsoft.com/office/drawing/2014/main" id="{7415B2A1-2C95-4F95-9A99-F6ED136FD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552700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LivAI generation</a:t>
            </a:r>
          </a:p>
        </p:txBody>
      </p:sp>
      <p:sp>
        <p:nvSpPr>
          <p:cNvPr id="18" name="generation-body">
            <a:extLst xmlns:a="http://schemas.openxmlformats.org/drawingml/2006/main">
              <a:ext uri="{FF2B5EF4-FFF2-40B4-BE49-F238E27FC236}">
                <a16:creationId xmlns:a16="http://schemas.microsoft.com/office/drawing/2014/main" id="{47B09EEF-0136-4BB2-86BF-BDE16836C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124200"/>
            <a:ext cx="2476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22222"/>
                </a:solidFill>
              </a:defRPr>
            </a:pPr>
            <a:r>
              <a:rPr sz="1500">
                <a:solidFill>
                  <a:srgbClr val="222222"/>
                </a:solidFill>
              </a:rPr>
              <a:t>FunctionAgent</a:t>
            </a:r>
          </a:p>
          <a:p xmlns:a="http://schemas.openxmlformats.org/drawingml/2006/main">
            <a:pPr>
              <a:defRPr sz="1500">
                <a:solidFill>
                  <a:srgbClr val="222222"/>
                </a:solidFill>
              </a:defRPr>
            </a:pPr>
            <a:r>
              <a:rPr sz="1500">
                <a:solidFill>
                  <a:srgbClr val="222222"/>
                </a:solidFill>
              </a:rPr>
              <a:t>Tool-aware response</a:t>
            </a:r>
          </a:p>
          <a:p xmlns:a="http://schemas.openxmlformats.org/drawingml/2006/main">
            <a:pPr>
              <a:defRPr sz="1500">
                <a:solidFill>
                  <a:srgbClr val="222222"/>
                </a:solidFill>
              </a:defRPr>
            </a:pPr>
            <a:r>
              <a:rPr sz="1500">
                <a:solidFill>
                  <a:srgbClr val="222222"/>
                </a:solidFill>
              </a:rPr>
              <a:t>Source-grounded answer</a:t>
            </a:r>
          </a:p>
        </p:txBody>
      </p:sp>
      <p:sp>
        <p:nvSpPr>
          <p:cNvPr id="19" name="generation-note">
            <a:extLst xmlns:a="http://schemas.openxmlformats.org/drawingml/2006/main">
              <a:ext uri="{FF2B5EF4-FFF2-40B4-BE49-F238E27FC236}">
                <a16:creationId xmlns:a16="http://schemas.microsoft.com/office/drawing/2014/main" id="{1E99AFE2-663F-4618-955C-9E450D81F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8577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Backend-managed call</a:t>
            </a:r>
          </a:p>
        </p:txBody>
      </p:sp>
      <p:sp>
        <p:nvSpPr>
          <p:cNvPr id="20" name="architecture-takeaway">
            <a:extLst xmlns:a="http://schemas.openxmlformats.org/drawingml/2006/main">
              <a:ext uri="{FF2B5EF4-FFF2-40B4-BE49-F238E27FC236}">
                <a16:creationId xmlns:a16="http://schemas.microsoft.com/office/drawing/2014/main" id="{D02E632A-B115-4574-9FF4-1E7376088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721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The vector index stays local; only retrieved context is sent for generation.</a:t>
            </a:r>
          </a:p>
        </p:txBody>
      </p:sp>
      <p:sp>
        <p:nvSpPr>
          <p:cNvPr id="21" name="source-2">
            <a:extLst xmlns:a="http://schemas.openxmlformats.org/drawingml/2006/main">
              <a:ext uri="{FF2B5EF4-FFF2-40B4-BE49-F238E27FC236}">
                <a16:creationId xmlns:a16="http://schemas.microsoft.com/office/drawing/2014/main" id="{06993DCC-1B81-4107-835E-2ECF9D0F3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9810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55555"/>
                </a:solidFill>
              </a:defRPr>
            </a:pPr>
            <a:r>
              <a:t>Source: prototype repository</a:t>
            </a:r>
          </a:p>
        </p:txBody>
      </p:sp>
      <p:sp>
        <p:nvSpPr>
          <p:cNvPr id="22" name="slide-number-2">
            <a:extLst xmlns:a="http://schemas.openxmlformats.org/drawingml/2006/main">
              <a:ext uri="{FF2B5EF4-FFF2-40B4-BE49-F238E27FC236}">
                <a16:creationId xmlns:a16="http://schemas.microsoft.com/office/drawing/2014/main" id="{35900CE8-91A9-4FE0-BD2E-AEC0DF83D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14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55555"/>
                </a:solidFill>
              </a:defRPr>
            </a:pPr>
            <a: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2582663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demo-title">
            <a:extLst xmlns:a="http://schemas.openxmlformats.org/drawingml/2006/main">
              <a:ext uri="{FF2B5EF4-FFF2-40B4-BE49-F238E27FC236}">
                <a16:creationId xmlns:a16="http://schemas.microsoft.com/office/drawing/2014/main" id="{7B4A911C-4076-40A7-94F3-9EE8154BC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07632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3150">
                <a:solidFill>
                  <a:srgbClr val="000000"/>
                </a:solidFill>
              </a:defRPr>
            </a:pPr>
            <a:r>
              <a:t>The demo follows one question end to end</a:t>
            </a:r>
          </a:p>
        </p:txBody>
      </p:sp>
      <p:sp>
        <p:nvSpPr>
          <p:cNvPr id="2" name="step-1-panel">
            <a:extLst xmlns:a="http://schemas.openxmlformats.org/drawingml/2006/main">
              <a:ext uri="{FF2B5EF4-FFF2-40B4-BE49-F238E27FC236}">
                <a16:creationId xmlns:a16="http://schemas.microsoft.com/office/drawing/2014/main" id="{74AB2ABB-F6A1-4D21-9DF4-3735B3095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259080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tep-2-panel">
            <a:extLst xmlns:a="http://schemas.openxmlformats.org/drawingml/2006/main">
              <a:ext uri="{FF2B5EF4-FFF2-40B4-BE49-F238E27FC236}">
                <a16:creationId xmlns:a16="http://schemas.microsoft.com/office/drawing/2014/main" id="{F14EB529-ABE9-4002-8537-FE06C672C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428750"/>
            <a:ext cx="259080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ep-3-panel">
            <a:extLst xmlns:a="http://schemas.openxmlformats.org/drawingml/2006/main">
              <a:ext uri="{FF2B5EF4-FFF2-40B4-BE49-F238E27FC236}">
                <a16:creationId xmlns:a16="http://schemas.microsoft.com/office/drawing/2014/main" id="{56DFD0AD-87A5-442B-876D-7FF51E804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428750"/>
            <a:ext cx="259080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tep-4-panel">
            <a:extLst xmlns:a="http://schemas.openxmlformats.org/drawingml/2006/main">
              <a:ext uri="{FF2B5EF4-FFF2-40B4-BE49-F238E27FC236}">
                <a16:creationId xmlns:a16="http://schemas.microsoft.com/office/drawing/2014/main" id="{60B217A8-C291-4D88-A274-4158D0E8C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428750"/>
            <a:ext cx="259080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29" name=""/>
          <p:cNvCxnSpPr>
            <a:stCxn xmlns:a="http://schemas.openxmlformats.org/drawingml/2006/main" id="2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>
            <a:off x="2990850" y="3067050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  <a:tailEnd type="triangle" w="sm" len="sm"/>
          </a:ln>
        </p:spPr>
      </p:cxnSp>
      <p:cxnSp>
        <p:nvCxnSpPr>
          <p:cNvPr id="30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5924550" y="3067050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  <a:tailEnd type="triangle" w="sm" len="sm"/>
          </a:ln>
        </p:spPr>
      </p:cxnSp>
      <p:cxnSp>
        <p:nvCxnSpPr>
          <p:cNvPr id="31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8858250" y="3067050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  <a:tailEnd type="triangle" w="sm" len="sm"/>
          </a:ln>
        </p:spPr>
      </p:cxnSp>
      <p:sp>
        <p:nvSpPr>
          <p:cNvPr id="9" name="step-1-number">
            <a:extLst xmlns:a="http://schemas.openxmlformats.org/drawingml/2006/main">
              <a:ext uri="{FF2B5EF4-FFF2-40B4-BE49-F238E27FC236}">
                <a16:creationId xmlns:a16="http://schemas.microsoft.com/office/drawing/2014/main" id="{8CA9171C-5068-4F21-9177-177591028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76400"/>
            <a:ext cx="857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6B35"/>
                </a:solidFill>
              </a:defRPr>
            </a:pPr>
            <a:r>
              <a:rPr sz="4050" b="1">
                <a:solidFill>
                  <a:srgbClr val="FF6B35"/>
                </a:solidFill>
              </a:rPr>
              <a:t>1</a:t>
            </a:r>
          </a:p>
        </p:txBody>
      </p:sp>
      <p:sp>
        <p:nvSpPr>
          <p:cNvPr id="10" name="step-1-title">
            <a:extLst xmlns:a="http://schemas.openxmlformats.org/drawingml/2006/main">
              <a:ext uri="{FF2B5EF4-FFF2-40B4-BE49-F238E27FC236}">
                <a16:creationId xmlns:a16="http://schemas.microsoft.com/office/drawing/2014/main" id="{C3F56572-5278-4931-B710-7224DCDFF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Ask</a:t>
            </a:r>
          </a:p>
        </p:txBody>
      </p:sp>
      <p:sp>
        <p:nvSpPr>
          <p:cNvPr id="11" name="step-1-body">
            <a:extLst xmlns:a="http://schemas.openxmlformats.org/drawingml/2006/main">
              <a:ext uri="{FF2B5EF4-FFF2-40B4-BE49-F238E27FC236}">
                <a16:creationId xmlns:a16="http://schemas.microsoft.com/office/drawing/2014/main" id="{6596171A-5B7E-4E74-90B4-41962C315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0"/>
            <a:ext cx="20764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22222"/>
                </a:solidFill>
              </a:defRPr>
            </a:pPr>
            <a:r>
              <a:rPr sz="1350">
                <a:solidFill>
                  <a:srgbClr val="222222"/>
                </a:solidFill>
              </a:rPr>
              <a:t>A teammate asks an E3SM or CIME workflow question.</a:t>
            </a:r>
          </a:p>
        </p:txBody>
      </p:sp>
      <p:sp>
        <p:nvSpPr>
          <p:cNvPr id="12" name="step-2-number">
            <a:extLst xmlns:a="http://schemas.openxmlformats.org/drawingml/2006/main">
              <a:ext uri="{FF2B5EF4-FFF2-40B4-BE49-F238E27FC236}">
                <a16:creationId xmlns:a16="http://schemas.microsoft.com/office/drawing/2014/main" id="{BEEA6326-F1DB-4083-837A-41C4A3313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676400"/>
            <a:ext cx="857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6B35"/>
                </a:solidFill>
              </a:defRPr>
            </a:pPr>
            <a:r>
              <a:rPr sz="4050" b="1">
                <a:solidFill>
                  <a:srgbClr val="FF6B35"/>
                </a:solidFill>
              </a:rPr>
              <a:t>2</a:t>
            </a:r>
          </a:p>
        </p:txBody>
      </p:sp>
      <p:sp>
        <p:nvSpPr>
          <p:cNvPr id="13" name="step-2-title">
            <a:extLst xmlns:a="http://schemas.openxmlformats.org/drawingml/2006/main">
              <a:ext uri="{FF2B5EF4-FFF2-40B4-BE49-F238E27FC236}">
                <a16:creationId xmlns:a16="http://schemas.microsoft.com/office/drawing/2014/main" id="{2237FC37-AE16-4DEE-A6A1-228E2E855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6670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Retrieve</a:t>
            </a:r>
          </a:p>
        </p:txBody>
      </p:sp>
      <p:sp>
        <p:nvSpPr>
          <p:cNvPr id="14" name="step-2-body">
            <a:extLst xmlns:a="http://schemas.openxmlformats.org/drawingml/2006/main">
              <a:ext uri="{FF2B5EF4-FFF2-40B4-BE49-F238E27FC236}">
                <a16:creationId xmlns:a16="http://schemas.microsoft.com/office/drawing/2014/main" id="{24F9806C-A1C3-44FB-BC67-2DFB307B8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238500"/>
            <a:ext cx="20764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22222"/>
                </a:solidFill>
              </a:defRPr>
            </a:pPr>
            <a:r>
              <a:rPr sz="1350">
                <a:solidFill>
                  <a:srgbClr val="222222"/>
                </a:solidFill>
              </a:rPr>
              <a:t>The tool finds relevant passages in the local index.</a:t>
            </a:r>
          </a:p>
        </p:txBody>
      </p:sp>
      <p:sp>
        <p:nvSpPr>
          <p:cNvPr id="15" name="step-3-number">
            <a:extLst xmlns:a="http://schemas.openxmlformats.org/drawingml/2006/main">
              <a:ext uri="{FF2B5EF4-FFF2-40B4-BE49-F238E27FC236}">
                <a16:creationId xmlns:a16="http://schemas.microsoft.com/office/drawing/2014/main" id="{7555E657-260B-4380-9960-8EB74EAA2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76400"/>
            <a:ext cx="857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6B35"/>
                </a:solidFill>
              </a:defRPr>
            </a:pPr>
            <a:r>
              <a:rPr sz="4050" b="1">
                <a:solidFill>
                  <a:srgbClr val="FF6B35"/>
                </a:solidFill>
              </a:rPr>
              <a:t>3</a:t>
            </a:r>
          </a:p>
        </p:txBody>
      </p:sp>
      <p:sp>
        <p:nvSpPr>
          <p:cNvPr id="16" name="step-3-title">
            <a:extLst xmlns:a="http://schemas.openxmlformats.org/drawingml/2006/main">
              <a:ext uri="{FF2B5EF4-FFF2-40B4-BE49-F238E27FC236}">
                <a16:creationId xmlns:a16="http://schemas.microsoft.com/office/drawing/2014/main" id="{3568F58E-A89E-4D2B-8484-E2A14534D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670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Generate</a:t>
            </a:r>
          </a:p>
        </p:txBody>
      </p:sp>
      <p:sp>
        <p:nvSpPr>
          <p:cNvPr id="17" name="step-3-body">
            <a:extLst xmlns:a="http://schemas.openxmlformats.org/drawingml/2006/main">
              <a:ext uri="{FF2B5EF4-FFF2-40B4-BE49-F238E27FC236}">
                <a16:creationId xmlns:a16="http://schemas.microsoft.com/office/drawing/2014/main" id="{4F413C4E-0C63-445B-9F6C-EE6EE651D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238500"/>
            <a:ext cx="20764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22222"/>
                </a:solidFill>
              </a:defRPr>
            </a:pPr>
            <a:r>
              <a:rPr sz="1350">
                <a:solidFill>
                  <a:srgbClr val="222222"/>
                </a:solidFill>
              </a:rPr>
              <a:t>LivAI receives selected context and drafts an answer.</a:t>
            </a:r>
          </a:p>
        </p:txBody>
      </p:sp>
      <p:sp>
        <p:nvSpPr>
          <p:cNvPr id="18" name="step-4-number">
            <a:extLst xmlns:a="http://schemas.openxmlformats.org/drawingml/2006/main">
              <a:ext uri="{FF2B5EF4-FFF2-40B4-BE49-F238E27FC236}">
                <a16:creationId xmlns:a16="http://schemas.microsoft.com/office/drawing/2014/main" id="{1101A67C-43EA-4F76-91C3-DA964F543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676400"/>
            <a:ext cx="857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6B35"/>
                </a:solidFill>
              </a:defRPr>
            </a:pPr>
            <a:r>
              <a:rPr sz="4050" b="1">
                <a:solidFill>
                  <a:srgbClr val="FF6B35"/>
                </a:solidFill>
              </a:rPr>
              <a:t>4</a:t>
            </a:r>
          </a:p>
        </p:txBody>
      </p:sp>
      <p:sp>
        <p:nvSpPr>
          <p:cNvPr id="19" name="step-4-title">
            <a:extLst xmlns:a="http://schemas.openxmlformats.org/drawingml/2006/main">
              <a:ext uri="{FF2B5EF4-FFF2-40B4-BE49-F238E27FC236}">
                <a16:creationId xmlns:a16="http://schemas.microsoft.com/office/drawing/2014/main" id="{0FC985AC-2598-41C9-8640-B89BE8E1F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6670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Verify</a:t>
            </a:r>
          </a:p>
        </p:txBody>
      </p:sp>
      <p:sp>
        <p:nvSpPr>
          <p:cNvPr id="20" name="step-4-body">
            <a:extLst xmlns:a="http://schemas.openxmlformats.org/drawingml/2006/main">
              <a:ext uri="{FF2B5EF4-FFF2-40B4-BE49-F238E27FC236}">
                <a16:creationId xmlns:a16="http://schemas.microsoft.com/office/drawing/2014/main" id="{43EA2AAB-7B39-4B9D-B8EB-2D51AC6B3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238500"/>
            <a:ext cx="20764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22222"/>
                </a:solidFill>
              </a:defRPr>
            </a:pPr>
            <a:r>
              <a:rPr sz="1350">
                <a:solidFill>
                  <a:srgbClr val="222222"/>
                </a:solidFill>
              </a:rPr>
              <a:t>We inspect source documents, caveats, and unsupported claims.</a:t>
            </a:r>
          </a:p>
        </p:txBody>
      </p:sp>
      <p:sp>
        <p:nvSpPr>
          <p:cNvPr id="21" name="demo-prompt-rule">
            <a:extLst xmlns:a="http://schemas.openxmlformats.org/drawingml/2006/main">
              <a:ext uri="{FF2B5EF4-FFF2-40B4-BE49-F238E27FC236}">
                <a16:creationId xmlns:a16="http://schemas.microsoft.com/office/drawing/2014/main" id="{DF371E0A-8A54-4F79-A946-25EFAA46A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76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demo-prompt">
            <a:extLst xmlns:a="http://schemas.openxmlformats.org/drawingml/2006/main">
              <a:ext uri="{FF2B5EF4-FFF2-40B4-BE49-F238E27FC236}">
                <a16:creationId xmlns:a16="http://schemas.microsoft.com/office/drawing/2014/main" id="{862AF1F0-35E7-411C-86BA-F121562E8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81600"/>
            <a:ext cx="10287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Demo prompt</a:t>
            </a:r>
          </a:p>
          <a:p xmlns:a="http://schemas.openxmlformats.org/drawingml/2006/main">
            <a:pPr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“How do I create, configure, and run an E3SM case with CIME?”</a:t>
            </a:r>
          </a:p>
        </p:txBody>
      </p:sp>
      <p:sp>
        <p:nvSpPr>
          <p:cNvPr id="23" name="slide-number-3">
            <a:extLst xmlns:a="http://schemas.openxmlformats.org/drawingml/2006/main">
              <a:ext uri="{FF2B5EF4-FFF2-40B4-BE49-F238E27FC236}">
                <a16:creationId xmlns:a16="http://schemas.microsoft.com/office/drawing/2014/main" id="{C92CCFB0-EC61-4F05-A192-63DBF6AD7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14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55555"/>
                </a:solidFill>
              </a:defRPr>
            </a:pPr>
            <a: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23167623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vidence-title">
            <a:extLst xmlns:a="http://schemas.openxmlformats.org/drawingml/2006/main">
              <a:ext uri="{FF2B5EF4-FFF2-40B4-BE49-F238E27FC236}">
                <a16:creationId xmlns:a16="http://schemas.microsoft.com/office/drawing/2014/main" id="{EAA80DC5-9716-4486-A803-AD2B8F7A2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11442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3150">
                <a:solidFill>
                  <a:srgbClr val="000000"/>
                </a:solidFill>
              </a:defRPr>
            </a:pPr>
            <a:r>
              <a:t>The PoC proves the technical path, not production readiness</a:t>
            </a:r>
          </a:p>
        </p:txBody>
      </p:sp>
      <p:sp>
        <p:nvSpPr>
          <p:cNvPr id="2" name="proves-label">
            <a:extLst xmlns:a="http://schemas.openxmlformats.org/drawingml/2006/main">
              <a:ext uri="{FF2B5EF4-FFF2-40B4-BE49-F238E27FC236}">
                <a16:creationId xmlns:a16="http://schemas.microsoft.com/office/drawing/2014/main" id="{F86C07D1-E746-46E3-904E-8B5DD66C7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6B35"/>
                </a:solidFill>
              </a:defRPr>
            </a:pPr>
            <a:r>
              <a:rPr sz="1350" b="1">
                <a:solidFill>
                  <a:srgbClr val="FF6B35"/>
                </a:solidFill>
              </a:rPr>
              <a:t>PROVES</a:t>
            </a:r>
          </a:p>
        </p:txBody>
      </p:sp>
      <p:sp>
        <p:nvSpPr>
          <p:cNvPr id="3" name="proves-body">
            <a:extLst xmlns:a="http://schemas.openxmlformats.org/drawingml/2006/main">
              <a:ext uri="{FF2B5EF4-FFF2-40B4-BE49-F238E27FC236}">
                <a16:creationId xmlns:a16="http://schemas.microsoft.com/office/drawing/2014/main" id="{523F40A0-59B7-4B55-9D19-35BC39DB6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0"/>
            <a:ext cx="4762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22222"/>
                </a:solidFill>
              </a:defRPr>
            </a:pPr>
            <a:r>
              <a:rPr sz="1800">
                <a:solidFill>
                  <a:srgbClr val="222222"/>
                </a:solidFill>
              </a:rPr>
              <a:t>Pinned, reproducible sources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>
                <a:solidFill>
                  <a:srgbClr val="222222"/>
                </a:solidFill>
              </a:defRPr>
            </a:pPr>
            <a:r>
              <a:rPr sz="1800">
                <a:solidFill>
                  <a:srgbClr val="222222"/>
                </a:solidFill>
              </a:rPr>
              <a:t>Local semantic retrieval and caching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>
                <a:solidFill>
                  <a:srgbClr val="222222"/>
                </a:solidFill>
              </a:defRPr>
            </a:pPr>
            <a:r>
              <a:rPr sz="1800">
                <a:solidFill>
                  <a:srgbClr val="222222"/>
                </a:solidFill>
              </a:rPr>
              <a:t>LivAI tool calling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>
                <a:solidFill>
                  <a:srgbClr val="222222"/>
                </a:solidFill>
              </a:defRPr>
            </a:pPr>
            <a:r>
              <a:rPr sz="1800">
                <a:solidFill>
                  <a:srgbClr val="222222"/>
                </a:solidFill>
              </a:rPr>
              <a:t>End-to-end grounded answers</a:t>
            </a:r>
          </a:p>
        </p:txBody>
      </p:sp>
      <p:sp>
        <p:nvSpPr>
          <p:cNvPr id="4" name="evidence-divider">
            <a:extLst xmlns:a="http://schemas.openxmlformats.org/drawingml/2006/main">
              <a:ext uri="{FF2B5EF4-FFF2-40B4-BE49-F238E27FC236}">
                <a16:creationId xmlns:a16="http://schemas.microsoft.com/office/drawing/2014/main" id="{D1DCCDA2-5C29-4B83-AB03-B0CD2C49E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676400"/>
            <a:ext cx="190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limits-label">
            <a:extLst xmlns:a="http://schemas.openxmlformats.org/drawingml/2006/main">
              <a:ext uri="{FF2B5EF4-FFF2-40B4-BE49-F238E27FC236}">
                <a16:creationId xmlns:a16="http://schemas.microsoft.com/office/drawing/2014/main" id="{C949B956-88F4-4058-BBED-072B5B04D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954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55555"/>
                </a:solidFill>
              </a:defRPr>
            </a:pPr>
            <a:r>
              <a:rPr sz="1350" b="1">
                <a:solidFill>
                  <a:srgbClr val="555555"/>
                </a:solidFill>
              </a:rPr>
              <a:t>STILL UNPROVEN</a:t>
            </a:r>
          </a:p>
        </p:txBody>
      </p:sp>
      <p:sp>
        <p:nvSpPr>
          <p:cNvPr id="6" name="limits-body">
            <a:extLst xmlns:a="http://schemas.openxmlformats.org/drawingml/2006/main">
              <a:ext uri="{FF2B5EF4-FFF2-40B4-BE49-F238E27FC236}">
                <a16:creationId xmlns:a16="http://schemas.microsoft.com/office/drawing/2014/main" id="{6011E0DD-E505-4EE4-B3BE-67B108CE0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190750"/>
            <a:ext cx="50482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22222"/>
                </a:solidFill>
              </a:defRPr>
            </a:pPr>
            <a:r>
              <a:rPr sz="1800">
                <a:solidFill>
                  <a:srgbClr val="222222"/>
                </a:solidFill>
              </a:rPr>
              <a:t>Retrieval and answer quality at scale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>
                <a:solidFill>
                  <a:srgbClr val="222222"/>
                </a:solidFill>
              </a:defRPr>
            </a:pPr>
            <a:r>
              <a:rPr sz="1800">
                <a:solidFill>
                  <a:srgbClr val="222222"/>
                </a:solidFill>
              </a:rPr>
              <a:t>Permissions and multiple users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>
                <a:solidFill>
                  <a:srgbClr val="222222"/>
                </a:solidFill>
              </a:defRPr>
            </a:pPr>
            <a:r>
              <a:rPr sz="1800">
                <a:solidFill>
                  <a:srgbClr val="222222"/>
                </a:solidFill>
              </a:rPr>
              <a:t>Automated ingestion and freshness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>
                <a:solidFill>
                  <a:srgbClr val="222222"/>
                </a:solidFill>
              </a:defRPr>
            </a:pPr>
            <a:r>
              <a:rPr sz="1800">
                <a:solidFill>
                  <a:srgbClr val="222222"/>
                </a:solidFill>
              </a:rPr>
              <a:t>Production database and operations</a:t>
            </a:r>
          </a:p>
        </p:txBody>
      </p:sp>
      <p:sp>
        <p:nvSpPr>
          <p:cNvPr id="7" name="evidence-takeaway-panel">
            <a:extLst xmlns:a="http://schemas.openxmlformats.org/drawingml/2006/main">
              <a:ext uri="{FF2B5EF4-FFF2-40B4-BE49-F238E27FC236}">
                <a16:creationId xmlns:a16="http://schemas.microsoft.com/office/drawing/2014/main" id="{480815BC-0977-449E-B158-A7E628C58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95950"/>
            <a:ext cx="113919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evidence-takeaway">
            <a:extLst xmlns:a="http://schemas.openxmlformats.org/drawingml/2006/main">
              <a:ext uri="{FF2B5EF4-FFF2-40B4-BE49-F238E27FC236}">
                <a16:creationId xmlns:a16="http://schemas.microsoft.com/office/drawing/2014/main" id="{A5C947E3-5DDF-4233-92F8-AF51A5ACC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This is enough evidence to move workflow validation into SimBoard.</a:t>
            </a:r>
          </a:p>
        </p:txBody>
      </p:sp>
      <p:sp>
        <p:nvSpPr>
          <p:cNvPr id="9" name="slide-number-4">
            <a:extLst xmlns:a="http://schemas.openxmlformats.org/drawingml/2006/main">
              <a:ext uri="{FF2B5EF4-FFF2-40B4-BE49-F238E27FC236}">
                <a16:creationId xmlns:a16="http://schemas.microsoft.com/office/drawing/2014/main" id="{AE964F52-FB52-41A3-A87F-B1BC0D622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14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55555"/>
                </a:solidFill>
              </a:defRPr>
            </a:pPr>
            <a: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7697182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next-title">
            <a:extLst xmlns:a="http://schemas.openxmlformats.org/drawingml/2006/main">
              <a:ext uri="{FF2B5EF4-FFF2-40B4-BE49-F238E27FC236}">
                <a16:creationId xmlns:a16="http://schemas.microsoft.com/office/drawing/2014/main" id="{2724765B-BD0C-4229-9014-E69DA9906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09537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3150">
                <a:solidFill>
                  <a:srgbClr val="000000"/>
                </a:solidFill>
              </a:defRPr>
            </a:pPr>
            <a:r>
              <a:t>Next: validate usefulness inside SimBoard</a:t>
            </a:r>
          </a:p>
        </p:txBody>
      </p:sp>
      <p:sp>
        <p:nvSpPr>
          <p:cNvPr id="2" name="next-headline">
            <a:extLst xmlns:a="http://schemas.openxmlformats.org/drawingml/2006/main">
              <a:ext uri="{FF2B5EF4-FFF2-40B4-BE49-F238E27FC236}">
                <a16:creationId xmlns:a16="http://schemas.microsoft.com/office/drawing/2014/main" id="{0836D6D4-FFDC-4893-9082-50082BF9F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71600"/>
            <a:ext cx="933450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700">
                <a:solidFill>
                  <a:srgbClr val="222222"/>
                </a:solidFill>
              </a:defRPr>
            </a:pPr>
            <a:r>
              <a:t>Reuse the pattern.
Do not build a separate platform yet.</a:t>
            </a:r>
          </a:p>
        </p:txBody>
      </p:sp>
      <p:sp>
        <p:nvSpPr>
          <p:cNvPr id="3" name="next-marker-0">
            <a:extLst xmlns:a="http://schemas.openxmlformats.org/drawingml/2006/main">
              <a:ext uri="{FF2B5EF4-FFF2-40B4-BE49-F238E27FC236}">
                <a16:creationId xmlns:a16="http://schemas.microsoft.com/office/drawing/2014/main" id="{B22A6247-91FE-440B-A493-E8F1EABEC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956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next-label-0">
            <a:extLst xmlns:a="http://schemas.openxmlformats.org/drawingml/2006/main">
              <a:ext uri="{FF2B5EF4-FFF2-40B4-BE49-F238E27FC236}">
                <a16:creationId xmlns:a16="http://schemas.microsoft.com/office/drawing/2014/main" id="{59F567AE-5F97-4F45-91ED-13DD8DC40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0525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6B35"/>
                </a:solidFill>
              </a:defRPr>
            </a:pPr>
            <a:r>
              <a:rPr sz="1350" b="1">
                <a:solidFill>
                  <a:srgbClr val="FF6B35"/>
                </a:solidFill>
              </a:rPr>
              <a:t>EVALUATE</a:t>
            </a:r>
          </a:p>
        </p:txBody>
      </p:sp>
      <p:sp>
        <p:nvSpPr>
          <p:cNvPr id="5" name="next-body-0">
            <a:extLst xmlns:a="http://schemas.openxmlformats.org/drawingml/2006/main">
              <a:ext uri="{FF2B5EF4-FFF2-40B4-BE49-F238E27FC236}">
                <a16:creationId xmlns:a16="http://schemas.microsoft.com/office/drawing/2014/main" id="{2D352171-F3D2-4D9D-AFB4-50D08B144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43400"/>
            <a:ext cx="3238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222222"/>
                </a:solidFill>
              </a:defRPr>
            </a:pPr>
            <a:r>
              <a:rPr sz="1650">
                <a:solidFill>
                  <a:srgbClr val="222222"/>
                </a:solidFill>
              </a:rPr>
              <a:t>Run 20–30 cases for accuracy, citations, caveats, and abstention.</a:t>
            </a:r>
          </a:p>
        </p:txBody>
      </p:sp>
      <p:sp>
        <p:nvSpPr>
          <p:cNvPr id="6" name="next-marker-1">
            <a:extLst xmlns:a="http://schemas.openxmlformats.org/drawingml/2006/main">
              <a:ext uri="{FF2B5EF4-FFF2-40B4-BE49-F238E27FC236}">
                <a16:creationId xmlns:a16="http://schemas.microsoft.com/office/drawing/2014/main" id="{27ACBBF8-A185-46AB-9BC9-112038AF9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2956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next-label-1">
            <a:extLst xmlns:a="http://schemas.openxmlformats.org/drawingml/2006/main">
              <a:ext uri="{FF2B5EF4-FFF2-40B4-BE49-F238E27FC236}">
                <a16:creationId xmlns:a16="http://schemas.microsoft.com/office/drawing/2014/main" id="{8A9B5444-D02A-459F-B040-608154B8E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90525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55555"/>
                </a:solidFill>
              </a:defRPr>
            </a:pPr>
            <a:r>
              <a:rPr sz="1350" b="1">
                <a:solidFill>
                  <a:srgbClr val="555555"/>
                </a:solidFill>
              </a:rPr>
              <a:t>OBSERVE</a:t>
            </a:r>
          </a:p>
        </p:txBody>
      </p:sp>
      <p:sp>
        <p:nvSpPr>
          <p:cNvPr id="8" name="next-body-1">
            <a:extLst xmlns:a="http://schemas.openxmlformats.org/drawingml/2006/main">
              <a:ext uri="{FF2B5EF4-FFF2-40B4-BE49-F238E27FC236}">
                <a16:creationId xmlns:a16="http://schemas.microsoft.com/office/drawing/2014/main" id="{FDC434CF-C5A6-4B84-9D31-6096ACE5F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4343400"/>
            <a:ext cx="3238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222222"/>
                </a:solidFill>
              </a:defRPr>
            </a:pPr>
            <a:r>
              <a:rPr sz="1650">
                <a:solidFill>
                  <a:srgbClr val="222222"/>
                </a:solidFill>
              </a:rPr>
              <a:t>Capture trace IDs, latency, errors, retrieved sources, and feedback.</a:t>
            </a:r>
          </a:p>
        </p:txBody>
      </p:sp>
      <p:sp>
        <p:nvSpPr>
          <p:cNvPr id="9" name="next-marker-2">
            <a:extLst xmlns:a="http://schemas.openxmlformats.org/drawingml/2006/main">
              <a:ext uri="{FF2B5EF4-FFF2-40B4-BE49-F238E27FC236}">
                <a16:creationId xmlns:a16="http://schemas.microsoft.com/office/drawing/2014/main" id="{0E0A22AD-527F-40E7-AD75-4FEF68BBA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2956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next-label-2">
            <a:extLst xmlns:a="http://schemas.openxmlformats.org/drawingml/2006/main">
              <a:ext uri="{FF2B5EF4-FFF2-40B4-BE49-F238E27FC236}">
                <a16:creationId xmlns:a16="http://schemas.microsoft.com/office/drawing/2014/main" id="{7EF49F9C-E341-47D6-BD72-912A1E362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90525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55555"/>
                </a:solidFill>
              </a:defRPr>
            </a:pPr>
            <a:r>
              <a:rPr sz="1350" b="1">
                <a:solidFill>
                  <a:srgbClr val="555555"/>
                </a:solidFill>
              </a:rPr>
              <a:t>EXPAND</a:t>
            </a:r>
          </a:p>
        </p:txBody>
      </p:sp>
      <p:sp>
        <p:nvSpPr>
          <p:cNvPr id="11" name="next-body-2">
            <a:extLst xmlns:a="http://schemas.openxmlformats.org/drawingml/2006/main">
              <a:ext uri="{FF2B5EF4-FFF2-40B4-BE49-F238E27FC236}">
                <a16:creationId xmlns:a16="http://schemas.microsoft.com/office/drawing/2014/main" id="{7349645C-E5AD-41D2-9D58-C3FFE06EC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343400"/>
            <a:ext cx="3238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222222"/>
                </a:solidFill>
              </a:defRPr>
            </a:pPr>
            <a:r>
              <a:rPr sz="1650">
                <a:solidFill>
                  <a:srgbClr val="222222"/>
                </a:solidFill>
              </a:rPr>
              <a:t>Add retrieval or pgvector only where measured gaps justify it.</a:t>
            </a:r>
          </a:p>
        </p:txBody>
      </p:sp>
      <p:sp>
        <p:nvSpPr>
          <p:cNvPr id="12" name="team-ask-panel">
            <a:extLst xmlns:a="http://schemas.openxmlformats.org/drawingml/2006/main">
              <a:ext uri="{FF2B5EF4-FFF2-40B4-BE49-F238E27FC236}">
                <a16:creationId xmlns:a16="http://schemas.microsoft.com/office/drawing/2014/main" id="{F7CD64A8-8BE6-4729-AE07-B4FE7B1C2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67400"/>
            <a:ext cx="11391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am-ask">
            <a:extLst xmlns:a="http://schemas.openxmlformats.org/drawingml/2006/main">
              <a:ext uri="{FF2B5EF4-FFF2-40B4-BE49-F238E27FC236}">
                <a16:creationId xmlns:a16="http://schemas.microsoft.com/office/drawing/2014/main" id="{B7AD5E84-F29B-4E2B-92FD-045BA328D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TEAM ASK   Nominate 5 representative simulations and 2 reviewers.</a:t>
            </a:r>
          </a:p>
        </p:txBody>
      </p:sp>
      <p:sp>
        <p:nvSpPr>
          <p:cNvPr id="14" name="source-5">
            <a:extLst xmlns:a="http://schemas.openxmlformats.org/drawingml/2006/main">
              <a:ext uri="{FF2B5EF4-FFF2-40B4-BE49-F238E27FC236}">
                <a16:creationId xmlns:a16="http://schemas.microsoft.com/office/drawing/2014/main" id="{74DE4D38-1593-4F79-A70F-3C50F1491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9810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55555"/>
                </a:solidFill>
              </a:defRPr>
            </a:pPr>
            <a:r>
              <a:t>Source: SimBoard AI Assistant Prototype Learning Plan</a:t>
            </a:r>
          </a:p>
        </p:txBody>
      </p:sp>
      <p:sp>
        <p:nvSpPr>
          <p:cNvPr id="15" name="slide-number-5">
            <a:extLst xmlns:a="http://schemas.openxmlformats.org/drawingml/2006/main">
              <a:ext uri="{FF2B5EF4-FFF2-40B4-BE49-F238E27FC236}">
                <a16:creationId xmlns:a16="http://schemas.microsoft.com/office/drawing/2014/main" id="{2415E77A-9118-460C-8746-27CE6AE18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14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55555"/>
                </a:solidFill>
              </a:defRPr>
            </a:pPr>
            <a: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7763258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2026-07-28T20:14:25.3900000Z</dcterms:created>
  <dcterms:modified xsi:type="dcterms:W3CDTF">2026-07-28T20:14:25.3900000Z</dcterms:modified>
</coreProperties>
</file>